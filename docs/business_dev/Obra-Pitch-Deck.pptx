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Impact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API Costs</c:v>
                  </c:pt>
                  <c:pt idx="1">
                    <c:v>Wasted Time</c:v>
                  </c:pt>
                  <c:pt idx="2">
                    <c:v>Manual Overhead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Category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($k/month)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0A8E8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bubble3D val="0"/>
            <c:spPr>
              <a:solidFill>
                <a:srgbClr val="5A6C7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AI-Native Startups</c:v>
                </c:pt>
                <c:pt idx="1">
                  <c:v>Tech Enterprises</c:v>
                </c:pt>
                <c:pt idx="2">
                  <c:v>Regulated Industries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40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6d569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89720"/>
            <a:ext cx="15937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71500" y="1966020"/>
            <a:ext cx="33049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4500"/>
              </a:spcAft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your masterpiece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2895600"/>
            <a:ext cx="6800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orchestration platform reducing LLM costs by 60-75% while accelerating feature delivery by 40-60%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500" y="3829050"/>
            <a:ext cx="26213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Funding Round | November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c47d0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7150"/>
            <a:ext cx="467315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0" y="704850"/>
            <a:ext cx="628592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30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are drowning in LLM orchestration overhead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1339751"/>
            <a:ext cx="93268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 Waste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0" y="1697831"/>
            <a:ext cx="93268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spend 20-40% of their time crafting prompts, reviewing AI outputs, and fixing AI-generated bugs instead of building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0" y="2475012"/>
            <a:ext cx="93268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Exploding API Costs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0" y="2833092"/>
            <a:ext cx="93268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AI users spend $1,000-$5,000 per developer monthly on LLM APIs, with costs growing 3-5% month-over-month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0" y="3335982"/>
            <a:ext cx="93268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Turnkey Solution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0" y="3694063"/>
            <a:ext cx="93268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are IDE assistants, not orchestration platforms—every team reinvents the wheel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47a58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AI Chaos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0600" y="1895475"/>
            <a:ext cx="199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800600" y="22764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LLM API costs for 50-dev team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00600" y="2695575"/>
            <a:ext cx="199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800600" y="30765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prompt iterations per component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00600" y="3495675"/>
            <a:ext cx="199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800600" y="38766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 wasted on AI overhead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562100"/>
          <a:ext cx="3886200" cy="29146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5826a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38175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23975"/>
            <a:ext cx="68299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is the orchestration layer between developers and LLMs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009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19716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prompt generation based on project context and coding standards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5050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5800" y="2466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validation loops using local reasoning models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30003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5800" y="29622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testing and integration automatically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34956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5800" y="34575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your codebase to enforce team patterns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4067175"/>
            <a:ext cx="8229600" cy="647700"/>
          </a:xfrm>
          <a:prstGeom prst="roundRect">
            <a:avLst>
              <a:gd name="adj" fmla="val 11765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0352" y="425767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intent → Tested, integrated features → Human approval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c97b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Obra Works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838325"/>
            <a:ext cx="1402110" cy="1524000"/>
          </a:xfrm>
          <a:prstGeom prst="roundRect">
            <a:avLst>
              <a:gd name="adj" fmla="val 5435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8650" y="2009775"/>
            <a:ext cx="10803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Intent Parsing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8650" y="2581275"/>
            <a:ext cx="10803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codebase and requirements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164110" y="1838325"/>
            <a:ext cx="1402110" cy="1524000"/>
          </a:xfrm>
          <a:prstGeom prst="roundRect">
            <a:avLst>
              <a:gd name="adj" fmla="val 5435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335560" y="2009775"/>
            <a:ext cx="10803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335560" y="2581275"/>
            <a:ext cx="10803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LLM creates implementation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71020" y="2066925"/>
            <a:ext cx="1402110" cy="1066800"/>
          </a:xfrm>
          <a:prstGeom prst="roundRect">
            <a:avLst>
              <a:gd name="adj" fmla="val 7143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42470" y="2238375"/>
            <a:ext cx="1080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Validation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42470" y="2543175"/>
            <a:ext cx="10803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reviews quality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77929" y="1971675"/>
            <a:ext cx="1402110" cy="1257300"/>
          </a:xfrm>
          <a:prstGeom prst="roundRect">
            <a:avLst>
              <a:gd name="adj" fmla="val 6061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49379" y="2143125"/>
            <a:ext cx="1080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749379" y="2447925"/>
            <a:ext cx="10803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integration checks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84839" y="1971675"/>
            <a:ext cx="1402110" cy="1257300"/>
          </a:xfrm>
          <a:prstGeom prst="roundRect">
            <a:avLst>
              <a:gd name="adj" fmla="val 6061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456289" y="2143125"/>
            <a:ext cx="1080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456289" y="2447925"/>
            <a:ext cx="10803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reviews and ships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152900"/>
            <a:ext cx="8229600" cy="533400"/>
          </a:xfrm>
          <a:prstGeom prst="roundRect">
            <a:avLst>
              <a:gd name="adj" fmla="val 14286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1490" y="430530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2.1 iterations (vs 8.3 industry baseline)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389e7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152525"/>
            <a:ext cx="8229600" cy="1143000"/>
          </a:xfrm>
          <a:prstGeom prst="roundRect">
            <a:avLst>
              <a:gd name="adj" fmla="val 10000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85775" y="1152525"/>
            <a:ext cx="0" cy="1143000"/>
          </a:xfrm>
          <a:prstGeom prst="line">
            <a:avLst/>
          </a:prstGeom>
          <a:noFill/>
          <a:ln w="57150">
            <a:solidFill>
              <a:srgbClr val="00D4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2950" y="1381125"/>
            <a:ext cx="39444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60-75% Cost Reduction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2950" y="1762125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reasoning cuts API costs dramatically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2447925"/>
            <a:ext cx="8229600" cy="1143000"/>
          </a:xfrm>
          <a:prstGeom prst="roundRect">
            <a:avLst>
              <a:gd name="adj" fmla="val 10000"/>
            </a:avLst>
          </a:prstGeom>
          <a:solidFill>
            <a:srgbClr val="00A8E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85775" y="2447925"/>
            <a:ext cx="0" cy="1143000"/>
          </a:xfrm>
          <a:prstGeom prst="line">
            <a:avLst/>
          </a:prstGeom>
          <a:noFill/>
          <a:ln w="57150">
            <a:solidFill>
              <a:srgbClr val="00A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950" y="2676525"/>
            <a:ext cx="39444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 Faster Delivery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2950" y="3057525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orchestration reduces rework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3743325"/>
            <a:ext cx="8229600" cy="1143000"/>
          </a:xfrm>
          <a:prstGeom prst="roundRect">
            <a:avLst>
              <a:gd name="adj" fmla="val 10000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85775" y="3743325"/>
            <a:ext cx="0" cy="1143000"/>
          </a:xfrm>
          <a:prstGeom prst="line">
            <a:avLst/>
          </a:prstGeom>
          <a:noFill/>
          <a:ln w="57150">
            <a:solidFill>
              <a:srgbClr val="F5F5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950" y="3971925"/>
            <a:ext cx="39444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2950" y="4352925"/>
            <a:ext cx="7869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sovereignty and compliance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13ef8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00600" y="1514475"/>
            <a:ext cx="19916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800600" y="20478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00600" y="2314575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 enterprise developer seats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00600" y="2847975"/>
            <a:ext cx="199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4800600" y="32670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teams using AI assistants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3838575"/>
            <a:ext cx="1991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800600" y="42576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through 2027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1562100"/>
          <a:ext cx="3886200" cy="29146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ddf58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52550"/>
            <a:ext cx="3962400" cy="3333750"/>
          </a:xfrm>
          <a:prstGeom prst="roundRect">
            <a:avLst>
              <a:gd name="adj" fmla="val 3429"/>
            </a:avLst>
          </a:prstGeom>
          <a:solidFill>
            <a:srgbClr val="00D4AA">
              <a:alpha val="5000"/>
            </a:srgbClr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04850" y="1600200"/>
            <a:ext cx="17779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(SaaS)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04850" y="2057400"/>
            <a:ext cx="35364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$250-400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04850" y="25146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seat/month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850" y="2895600"/>
            <a:ext cx="34671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deployment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updates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gross margin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850" y="3924300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AI-native companies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24400" y="1352550"/>
            <a:ext cx="3962400" cy="3333750"/>
          </a:xfrm>
          <a:prstGeom prst="roundRect">
            <a:avLst>
              <a:gd name="adj" fmla="val 3429"/>
            </a:avLst>
          </a:prstGeom>
          <a:solidFill>
            <a:srgbClr val="00A8E8">
              <a:alpha val="5000"/>
            </a:srgbClr>
          </a:solidFill>
          <a:ln w="19050">
            <a:solidFill>
              <a:srgbClr val="00A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72050" y="1600200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Appliance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72050" y="2057400"/>
            <a:ext cx="35364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$600-900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972050" y="25146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seat/month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2050" y="2895600"/>
            <a:ext cx="34671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included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White-glove setup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gross margin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72050" y="3924300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Regulated industries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79495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5255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50-developer team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285875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Obra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781175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57200" y="21621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LLM API costs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619375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57200" y="300037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 waste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5718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9600" y="3762375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600" y="4067175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of overhead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00600" y="1000125"/>
            <a:ext cx="39639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Obra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00600" y="1495425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$18k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4800600" y="187642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LLM API costs (70% ↓)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00600" y="2333625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4800600" y="2714625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 waste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3286125"/>
            <a:ext cx="3886200" cy="1447800"/>
          </a:xfrm>
          <a:prstGeom prst="roundRect">
            <a:avLst>
              <a:gd name="adj" fmla="val 5263"/>
            </a:avLst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53000" y="3476625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53000" y="3781425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monthly savings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53000" y="4048125"/>
            <a:ext cx="3653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 devs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953000" y="4352925"/>
            <a:ext cx="3653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equivalent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4114800"/>
            <a:ext cx="8229600" cy="571500"/>
          </a:xfrm>
          <a:prstGeom prst="roundRect">
            <a:avLst>
              <a:gd name="adj" fmla="val 13333"/>
            </a:avLst>
          </a:prstGeom>
          <a:solidFill>
            <a:srgbClr val="00A8E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490" y="42672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$324k annual savings + 10.8 dev-years recaptured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7e5e9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975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695325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04800" y="1266825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orchestration + data sovereignty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609725"/>
          <a:ext cx="8534400" cy="30480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200400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Price/Seat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Orchestration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Copilot/Cursor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$20-39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Replit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Builder-focused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Obra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$250-900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A88A"/>
                          </a:solidFill>
                        </a:rPr>
                        <a:t>Full project + Local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5f16f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52550"/>
            <a:ext cx="4206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convergences enable Obra today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1190625"/>
            <a:ext cx="8229600" cy="990600"/>
          </a:xfrm>
          <a:prstGeom prst="roundRect">
            <a:avLst>
              <a:gd name="adj" fmla="val 11538"/>
            </a:avLst>
          </a:prstGeom>
          <a:solidFill>
            <a:srgbClr val="00D4A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81012" y="1190625"/>
            <a:ext cx="0" cy="990600"/>
          </a:xfrm>
          <a:prstGeom prst="line">
            <a:avLst/>
          </a:prstGeom>
          <a:noFill/>
          <a:ln w="47625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5325" y="1381125"/>
            <a:ext cx="7956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Capability Threshold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5325" y="1724025"/>
            <a:ext cx="7956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like Claude 3.5 Sonnet crossed the "production-ready" bar with &lt;15% error rates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333625"/>
            <a:ext cx="8229600" cy="990600"/>
          </a:xfrm>
          <a:prstGeom prst="roundRect">
            <a:avLst>
              <a:gd name="adj" fmla="val 11538"/>
            </a:avLst>
          </a:prstGeom>
          <a:solidFill>
            <a:srgbClr val="00A8E8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81012" y="2333625"/>
            <a:ext cx="0" cy="990600"/>
          </a:xfrm>
          <a:prstGeom prst="line">
            <a:avLst/>
          </a:prstGeom>
          <a:noFill/>
          <a:ln w="47625">
            <a:solidFill>
              <a:srgbClr val="00A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5325" y="2524125"/>
            <a:ext cx="7956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Viability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5325" y="2867025"/>
            <a:ext cx="7956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70B rivals GPT-3.5 quality at 1/100th the inference cost—local is economical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476625"/>
            <a:ext cx="8229600" cy="990600"/>
          </a:xfrm>
          <a:prstGeom prst="roundRect">
            <a:avLst>
              <a:gd name="adj" fmla="val 11538"/>
            </a:avLst>
          </a:prstGeom>
          <a:solidFill>
            <a:srgbClr val="FF6B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81012" y="3476625"/>
            <a:ext cx="0" cy="990600"/>
          </a:xfrm>
          <a:prstGeom prst="line">
            <a:avLst/>
          </a:prstGeom>
          <a:noFill/>
          <a:ln w="47625">
            <a:solidFill>
              <a:srgbClr val="F5F5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5325" y="3667125"/>
            <a:ext cx="79569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Cost Pressure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5325" y="4010025"/>
            <a:ext cx="7956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budgets grew 300% YoY in 2024—CFOs demanding ROI and cost management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038600"/>
            <a:ext cx="8229600" cy="647700"/>
          </a:xfrm>
          <a:prstGeom prst="roundRect">
            <a:avLst>
              <a:gd name="adj" fmla="val 11765"/>
            </a:avLst>
          </a:prstGeom>
          <a:solidFill>
            <a:srgbClr val="00D4A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0352" y="422910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window before incumbents add orchestration or enterprises build internal solutions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dcdaa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52550"/>
            <a:ext cx="2540050" cy="3333750"/>
          </a:xfrm>
          <a:prstGeom prst="roundRect">
            <a:avLst>
              <a:gd name="adj" fmla="val 4500"/>
            </a:avLst>
          </a:prstGeom>
          <a:solidFill>
            <a:srgbClr val="00D4A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5800" y="1581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3317" y="16383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114550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Partners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457450"/>
            <a:ext cx="21245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2724150"/>
            <a:ext cx="208285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early adopters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deployment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data + testimonials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02050" y="1352550"/>
            <a:ext cx="2540050" cy="3333750"/>
          </a:xfrm>
          <a:prstGeom prst="roundRect">
            <a:avLst>
              <a:gd name="adj" fmla="val 4500"/>
            </a:avLst>
          </a:prstGeom>
          <a:solidFill>
            <a:srgbClr val="00D4A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30650" y="1581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A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68167" y="16383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30650" y="2114550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Launch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30650" y="2457450"/>
            <a:ext cx="21245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7-12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30650" y="2724150"/>
            <a:ext cx="20828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paying customers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+ community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case studies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46899" y="1352550"/>
            <a:ext cx="2540050" cy="3333750"/>
          </a:xfrm>
          <a:prstGeom prst="roundRect">
            <a:avLst>
              <a:gd name="adj" fmla="val 4500"/>
            </a:avLst>
          </a:prstGeom>
          <a:solidFill>
            <a:srgbClr val="00D4AA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75499" y="15811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13016" y="16383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75499" y="2114550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75499" y="2457450"/>
            <a:ext cx="21245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2+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75499" y="2724150"/>
            <a:ext cx="208285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customers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partnerships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appliance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30910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6750"/>
            <a:ext cx="53532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Program Success Criteria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352550"/>
            <a:ext cx="2641550" cy="1428750"/>
          </a:xfrm>
          <a:prstGeom prst="roundRect">
            <a:avLst>
              <a:gd name="adj" fmla="val 5333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170682" y="1543050"/>
            <a:ext cx="1214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5094" y="2076450"/>
            <a:ext cx="2305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 reduction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1150" y="1352550"/>
            <a:ext cx="2641550" cy="1428750"/>
          </a:xfrm>
          <a:prstGeom prst="roundRect">
            <a:avLst>
              <a:gd name="adj" fmla="val 5333"/>
            </a:avLst>
          </a:prstGeom>
          <a:solidFill>
            <a:srgbClr val="00A8E8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64632" y="1543050"/>
            <a:ext cx="1214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419045" y="2076450"/>
            <a:ext cx="2305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delivery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45101" y="1352550"/>
            <a:ext cx="2641550" cy="1428750"/>
          </a:xfrm>
          <a:prstGeom prst="roundRect">
            <a:avLst>
              <a:gd name="adj" fmla="val 5333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23398" y="1543050"/>
            <a:ext cx="188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50+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212995" y="2076450"/>
            <a:ext cx="2305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satisfaction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086100"/>
            <a:ext cx="82296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04850" y="3333750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Target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4850" y="3790950"/>
            <a:ext cx="23188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704850" y="4171950"/>
            <a:ext cx="2318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5400" y="3790950"/>
            <a:ext cx="23188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435400" y="4171950"/>
            <a:ext cx="2318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seats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65949" y="3790950"/>
            <a:ext cx="23188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$9M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6165949" y="4171950"/>
            <a:ext cx="23188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ffb6a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73470" y="676275"/>
            <a:ext cx="17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pic>
        <p:nvPicPr>
          <p:cNvPr id="4" name="Image 1" descr="/tmp/rasterized-gradient-56195ab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38275"/>
            <a:ext cx="8382000" cy="2590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24042" y="1819275"/>
            <a:ext cx="389591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900"/>
              </a:spcAft>
              <a:buNone/>
            </a:pPr>
            <a:r>
              <a:rPr lang="en-US" sz="4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</a:t>
            </a:r>
            <a:endParaRPr lang="en-US" sz="4500" dirty="0"/>
          </a:p>
        </p:txBody>
      </p:sp>
      <p:sp>
        <p:nvSpPr>
          <p:cNvPr id="6" name="Text 2"/>
          <p:cNvSpPr/>
          <p:nvPr/>
        </p:nvSpPr>
        <p:spPr>
          <a:xfrm>
            <a:off x="685800" y="2505075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38632" y="3076575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8632" y="3381375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380183" y="3076575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380183" y="3381375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21733" y="3076575"/>
            <a:ext cx="2383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021733" y="3381375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76725" y="4371975"/>
            <a:ext cx="2990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alphas • $450k ARR • Series A ready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630f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0564" y="628650"/>
            <a:ext cx="23025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278536" y="1504950"/>
            <a:ext cx="45867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750"/>
              </a:spcAft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your masterpiece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323505" y="2324100"/>
            <a:ext cx="4496842" cy="125730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550570" y="2628900"/>
            <a:ext cx="40427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60-75% cost reduction • 40-60% faster delivery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50570" y="2971800"/>
            <a:ext cx="40427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$450M TAM • $750k raise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323505" y="3933825"/>
            <a:ext cx="4496842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78536" y="4210050"/>
            <a:ext cx="4586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about your investment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Obra Investor Pitch Deck</dc:title>
  <dc:subject>Pre-Seed Fundraising Presentation</dc:subject>
  <dc:creator>Obra</dc:creator>
  <cp:lastModifiedBy>Obra</cp:lastModifiedBy>
  <cp:revision>1</cp:revision>
  <dcterms:created xsi:type="dcterms:W3CDTF">2025-11-01T22:08:12Z</dcterms:created>
  <dcterms:modified xsi:type="dcterms:W3CDTF">2025-11-01T22:08:12Z</dcterms:modified>
</cp:coreProperties>
</file>